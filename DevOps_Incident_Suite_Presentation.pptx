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Multi-Agent DevOps</a:t>
            </a:r>
            <a:br/>
            <a:r>
              <a:t>Incident Analysis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C0"/>
                </a:solidFill>
                <a:latin typeface="Calibri"/>
              </a:defRPr>
            </a:pPr>
            <a:r>
              <a:t>Design, Build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t>AI Engineering Accelerator — Cohort 7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206240"/>
            <a:ext cx="27432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Wayne Johnston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Built with Claude Opus 4.6  |  LangGraph  |  LangChain  | 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1.  Executive Summary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2.  Architecture &amp; Design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3.  Technology Stack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4.  Agent Deep Dive (5 agents)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5.  LangGraph Orchestration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6.  Slack Channel Routing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7.  Streamlit UI &amp; Security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8.  Unit Testing &amp; Code Coverage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9.  Deployment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10. Future Enhancements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AI-driven incident analysis for DevOps &amp; SRE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Upload infrastructure logs (routers, switches, firewalls, servers)</a:t>
            </a:r>
          </a:p>
          <a:p>
            <a:pPr>
              <a:spcAft>
                <a:spcPts val="6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AI infers log formats — no hardcoded regex or format parsers</a:t>
            </a:r>
          </a:p>
          <a:p>
            <a:pPr>
              <a:spcAft>
                <a:spcPts val="6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5-agent pipeline: parse → classify → remediate → notify → runbook</a:t>
            </a:r>
          </a:p>
          <a:p>
            <a:pPr>
              <a:spcAft>
                <a:spcPts val="6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Multi-channel Slack routing by incident category</a:t>
            </a:r>
          </a:p>
          <a:p>
            <a:pPr>
              <a:spcAft>
                <a:spcPts val="6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JIRA ticket creation for critical-severity issues</a:t>
            </a:r>
          </a:p>
          <a:p>
            <a:pPr>
              <a:spcAft>
                <a:spcPts val="6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Actionable Markdown runbook with CLI commands &amp; checklists</a:t>
            </a:r>
          </a:p>
          <a:p>
            <a:pPr>
              <a:spcAft>
                <a:spcPts val="6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Mock/live integration toggles for safe demoing</a:t>
            </a:r>
          </a:p>
          <a:p>
            <a:pPr>
              <a:spcAft>
                <a:spcPts val="6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Directory watcher for automated log ingestion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Architecture &amp;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LangGraph StateGraph orchestrates 5 specialized agents</a:t>
            </a:r>
          </a:p>
        </p:txBody>
      </p:sp>
      <p:pic>
        <p:nvPicPr>
          <p:cNvPr id="5" name="Picture 4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45920"/>
            <a:ext cx="6858000" cy="50945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Pipeline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Conditional routing based on incident severity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1463040" cy="6400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Log Reader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2011680"/>
            <a:ext cx="1463040" cy="64008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Remediation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2011680"/>
            <a:ext cx="1463040" cy="64008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697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366F1"/>
                </a:solidFill>
                <a:latin typeface="Calibri"/>
              </a:defRPr>
            </a:pPr>
            <a:r>
              <a:t>has_critical?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200400"/>
            <a:ext cx="1463040" cy="6400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D3436"/>
                </a:solidFill>
                <a:latin typeface="Calibri"/>
              </a:rPr>
              <a:t>Slack Notifier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3200400"/>
            <a:ext cx="1463040" cy="64008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JIRA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3200400"/>
            <a:ext cx="1463040" cy="64008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Cookbook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no critical 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2011680"/>
            <a:ext cx="1463040" cy="64008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Cookbook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3200400"/>
            <a:ext cx="914400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743200"/>
            <a:ext cx="914400" cy="457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2331720"/>
            <a:ext cx="182880" cy="36576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66160" y="2331720"/>
            <a:ext cx="182879" cy="36576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3520440"/>
            <a:ext cx="274320" cy="36576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0" y="3520440"/>
            <a:ext cx="274320" cy="36576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66560" y="3520440"/>
            <a:ext cx="274320" cy="36576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286000" cy="5029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9202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436"/>
                </a:solidFill>
                <a:latin typeface="Calibri"/>
              </a:defRPr>
            </a:pPr>
            <a:r>
              <a:t>GPT-4o via OpenRouter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2286000" cy="50292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560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436"/>
                </a:solidFill>
                <a:latin typeface="Calibri"/>
              </a:defRPr>
            </a:pPr>
            <a:r>
              <a:t>LangGraph StateGraph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228600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200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436"/>
                </a:solidFill>
                <a:latin typeface="Calibri"/>
              </a:defRPr>
            </a:pPr>
            <a:r>
              <a:t>LangChain 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228600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84047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436"/>
                </a:solidFill>
                <a:latin typeface="Calibri"/>
              </a:defRPr>
            </a:pPr>
            <a:r>
              <a:t>Streamlit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228600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D3436"/>
                </a:solidFill>
                <a:latin typeface="Calibri"/>
              </a:rPr>
              <a:t>Notifications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4480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436"/>
                </a:solidFill>
                <a:latin typeface="Calibri"/>
              </a:defRPr>
            </a:pPr>
            <a:r>
              <a:t>Slack Webhook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2286000" cy="50292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Ticketing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51206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436"/>
                </a:solidFill>
                <a:latin typeface="Calibri"/>
              </a:defRPr>
            </a:pPr>
            <a:r>
              <a:t>JIRA REST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669279"/>
            <a:ext cx="2286000" cy="50292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File Watcher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76071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436"/>
                </a:solidFill>
                <a:latin typeface="Calibri"/>
              </a:defRPr>
            </a:pPr>
            <a:r>
              <a:t>watchdog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Agent Deep Dive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5 specialized agents with distinct responsibilities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651760" cy="4572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Log Reader /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7744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3-stage AI pipeline:</a:t>
            </a:r>
            <a:br/>
            <a:r>
              <a:t>  1. Schema inference (first 15 lines)</a:t>
            </a:r>
            <a:br/>
            <a:r>
              <a:t>  2. Full parse (100-line chunks)</a:t>
            </a:r>
            <a:br/>
            <a:r>
              <a:t>  3. Severity + category classification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828800"/>
            <a:ext cx="2651760" cy="4572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Remediation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37744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Filters warning/critical events</a:t>
            </a:r>
            <a:br/>
            <a:r>
              <a:t>Root cause analysis</a:t>
            </a:r>
            <a:br/>
            <a:r>
              <a:t>Vendor-specific CLI commands</a:t>
            </a:r>
            <a:br/>
            <a:r>
              <a:t>Risk assessment per fix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651760" cy="45720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Cookbook Synthesizer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37744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Markdown runbook generation</a:t>
            </a:r>
            <a:br/>
            <a:r>
              <a:t>Priority matrix table</a:t>
            </a:r>
            <a:br/>
            <a:r>
              <a:t>Checkbox checklists + code blocks</a:t>
            </a:r>
            <a:br/>
            <a:r>
              <a:t>Escalation criteria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89120"/>
            <a:ext cx="265176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D3436"/>
                </a:solidFill>
                <a:latin typeface="Calibri"/>
              </a:rPr>
              <a:t>Slack Notifier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377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Groups by incident category</a:t>
            </a:r>
            <a:br/>
            <a:r>
              <a:t>Routes to correct channel</a:t>
            </a:r>
            <a:br/>
            <a:r>
              <a:t>Rich formatted messages</a:t>
            </a:r>
            <a:br/>
            <a:r>
              <a:t>Mock/live toggle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4389120"/>
            <a:ext cx="2651760" cy="45720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JIRA Ticket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9377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Critical issues only</a:t>
            </a:r>
            <a:br/>
            <a:r>
              <a:t>Structured ticket descriptions</a:t>
            </a:r>
            <a:br/>
            <a:r>
              <a:t>{noformat} CLI command blocks</a:t>
            </a:r>
            <a:br/>
            <a:r>
              <a:t>Mock/live toggle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Slack Channel Routing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Incidents auto-route to the right team's channel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743200" cy="10972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#ops-incidents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Operations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436"/>
                </a:solidFill>
                <a:latin typeface="Calibri"/>
              </a:defRPr>
            </a:pPr>
            <a:r>
              <a:t>Categories: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3436"/>
                </a:solidFill>
                <a:latin typeface="Calibri"/>
              </a:defRPr>
            </a:pPr>
            <a:r>
              <a:t>resource, application, database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2743200" cy="109728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#secops-incidents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Security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436"/>
                </a:solidFill>
                <a:latin typeface="Calibri"/>
              </a:defRPr>
            </a:pPr>
            <a:r>
              <a:t>Categories: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3436"/>
                </a:solidFill>
                <a:latin typeface="Calibri"/>
              </a:defRPr>
            </a:pPr>
            <a:r>
              <a:t>security, auth, policy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2743200" cy="109728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#network-incidents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Network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436"/>
                </a:solidFill>
                <a:latin typeface="Calibri"/>
              </a:defRPr>
            </a:pPr>
            <a:r>
              <a:t>Categories: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5394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3436"/>
                </a:solidFill>
                <a:latin typeface="Calibri"/>
              </a:defRPr>
            </a:pPr>
            <a:r>
              <a:t>interface, routing, network, hardware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Shared State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IncidentState TypedDict — all agents read/write shared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228600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  Field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920240"/>
            <a:ext cx="201168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  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920240"/>
            <a:ext cx="365760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  Description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22860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raw_logs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2286000"/>
            <a:ext cx="201168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dict[str, str]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36576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Filename → full log 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70048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inferred_schemas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670048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dict[str, list]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2670048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AI-detected field definitions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054096"/>
            <a:ext cx="22860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parsed_events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3054096"/>
            <a:ext cx="201168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list[dict]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3054096"/>
            <a:ext cx="36576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Structured parsed events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438144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classified_events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3438144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list[dict]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3438144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Events + severity + category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822192"/>
            <a:ext cx="22860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remediations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3822192"/>
            <a:ext cx="201168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list[dict]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3822192"/>
            <a:ext cx="36576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Issue → fix + CLI commands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206240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cookbook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4206240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str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4206240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Markdown runbook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590288"/>
            <a:ext cx="22860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notifications_sent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4590288"/>
            <a:ext cx="201168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list[dict]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4590288"/>
            <a:ext cx="36576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Slack message results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974336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jira_tickets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4974336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list[dict]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4974336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JIRA ticket references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358384"/>
            <a:ext cx="22860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status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5358384"/>
            <a:ext cx="201168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str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0" y="5358384"/>
            <a:ext cx="36576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Current pipeline stage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742432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errors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17520" y="5742432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list[str]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0" y="5742432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Accumulated errors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Streamlit UI &amp;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Calibri"/>
              </a:defRPr>
            </a:pPr>
            <a:r>
              <a:t>UI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Multi-file upload (.log, .txt)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Load Samples button for demo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Directory watcher auto-ingestion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6 result tabs: Events, Remediations,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    Runbook, Slack, JIRA, Schemas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Severity color coding (red/yellow/blue)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Runbook download button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01168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API keys never pre-filled in UI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Users enter own keys per session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Secrets reserved for /api endpoint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Analyze blocked without API key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Mock-first integrations (safe demos)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.env excluded from git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Framework-agnostic core (0 UI deps)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Unit Testing &amp; Code Coverage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81 tests | 99% coverage | pytest + unittest.mock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737360" cy="9144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81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Tests Passed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1828800"/>
            <a:ext cx="1737360" cy="9144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Failed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828800"/>
            <a:ext cx="1737360" cy="91440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99%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Coverage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1737360" cy="9144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5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Test Modules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201168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Module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108960"/>
            <a:ext cx="109728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Stmts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3108960"/>
            <a:ext cx="109728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Miss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3108960"/>
            <a:ext cx="137160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108960"/>
            <a:ext cx="237744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Missing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456432"/>
            <a:ext cx="20116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0">
                <a:solidFill>
                  <a:srgbClr val="2D3436"/>
                </a:solidFill>
                <a:latin typeface="Courier New"/>
              </a:rPr>
              <a:t>  state.py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456432"/>
            <a:ext cx="10972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3456432"/>
            <a:ext cx="10972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3456432"/>
            <a:ext cx="137160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456432"/>
            <a:ext cx="237744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803904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0">
                <a:solidFill>
                  <a:srgbClr val="2D3436"/>
                </a:solidFill>
                <a:latin typeface="Courier New"/>
              </a:rPr>
              <a:t>  tools.py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3803904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36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3803904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3803904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803904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151376"/>
            <a:ext cx="20116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0">
                <a:solidFill>
                  <a:srgbClr val="2D3436"/>
                </a:solidFill>
                <a:latin typeface="Courier New"/>
              </a:rPr>
              <a:t>  watcher.py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4151376"/>
            <a:ext cx="10972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64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4151376"/>
            <a:ext cx="10972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4151376"/>
            <a:ext cx="137160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151376"/>
            <a:ext cx="237744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498848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0">
                <a:solidFill>
                  <a:srgbClr val="2D3436"/>
                </a:solidFill>
                <a:latin typeface="Courier New"/>
              </a:rPr>
              <a:t>  graph.py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4498848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21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0" y="4498848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37760" y="4498848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498848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846320"/>
            <a:ext cx="20116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0">
                <a:solidFill>
                  <a:srgbClr val="2D3436"/>
                </a:solidFill>
                <a:latin typeface="Courier New"/>
              </a:rPr>
              <a:t>  agents.py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4846320"/>
            <a:ext cx="10972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143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0" y="4846320"/>
            <a:ext cx="10972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60" y="4846320"/>
            <a:ext cx="137160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6366F1"/>
                </a:solidFill>
                <a:latin typeface="Calibri"/>
              </a:rPr>
              <a:t>99%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846320"/>
            <a:ext cx="237744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13, 17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193792"/>
            <a:ext cx="2011680" cy="347472"/>
          </a:xfrm>
          <a:prstGeom prst="rect">
            <a:avLst/>
          </a:prstGeom>
          <a:solidFill>
            <a:srgbClr val="E8E8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2D3436"/>
                </a:solidFill>
                <a:latin typeface="Courier New"/>
              </a:rPr>
              <a:t>  TOTAL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5193792"/>
            <a:ext cx="1097280" cy="347472"/>
          </a:xfrm>
          <a:prstGeom prst="rect">
            <a:avLst/>
          </a:prstGeom>
          <a:solidFill>
            <a:srgbClr val="E8E8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3436"/>
                </a:solidFill>
                <a:latin typeface="Calibri"/>
              </a:rPr>
              <a:t>276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5193792"/>
            <a:ext cx="1097280" cy="347472"/>
          </a:xfrm>
          <a:prstGeom prst="rect">
            <a:avLst/>
          </a:prstGeom>
          <a:solidFill>
            <a:srgbClr val="E8E8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3436"/>
                </a:solidFill>
                <a:latin typeface="Calibri"/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37760" y="5193792"/>
            <a:ext cx="1371600" cy="347472"/>
          </a:xfrm>
          <a:prstGeom prst="rect">
            <a:avLst/>
          </a:prstGeom>
          <a:solidFill>
            <a:srgbClr val="E8E8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Calibri"/>
              </a:rPr>
              <a:t>99%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5193792"/>
            <a:ext cx="2377440" cy="347472"/>
          </a:xfrm>
          <a:prstGeom prst="rect">
            <a:avLst/>
          </a:prstGeom>
          <a:solidFill>
            <a:srgbClr val="E8E8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3436"/>
                </a:solidFill>
                <a:latin typeface="Calibri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5778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Lines 13, 17 in agents.py are import-time .env path checks (load_dotenv calls) — both branches are exercised but coverage can't attribute them to a specific test due to module import timing.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Test Suite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Comprehensive mocking of LLM, Slack, and JIRA integrations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2651760" cy="41148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test_state.py  (2 tests)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TypedDict instantiation</a:t>
            </a:r>
            <a:br/>
            <a:r>
              <a:t>Populated data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828800"/>
            <a:ext cx="2651760" cy="41148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test_tools.py  (23 tests)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33172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Channel routing (12 categories)</a:t>
            </a:r>
            <a:br/>
            <a:r>
              <a:t>Slack mock/live modes</a:t>
            </a:r>
            <a:br/>
            <a:r>
              <a:t>JIRA mock/live modes</a:t>
            </a:r>
            <a:br/>
            <a:r>
              <a:t>Webhook POST verification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65176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test_watcher.py  (10 tests)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33172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File type filtering</a:t>
            </a:r>
            <a:br/>
            <a:r>
              <a:t>Debounce logic</a:t>
            </a:r>
            <a:br/>
            <a:r>
              <a:t>Directory create/scan</a:t>
            </a:r>
            <a:br/>
            <a:r>
              <a:t>Unreadable file handling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297680"/>
            <a:ext cx="2651760" cy="41148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test_agents.py  (25 tests)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0060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Lazy LLM pattern</a:t>
            </a:r>
            <a:br/>
            <a:r>
              <a:t>All 5 agent nodes</a:t>
            </a:r>
            <a:br/>
            <a:r>
              <a:t>JSON parse failures</a:t>
            </a:r>
            <a:br/>
            <a:r>
              <a:t>Edge cases (empty, malformed)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4297680"/>
            <a:ext cx="2651760" cy="41148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test_graph.py  (8 tests)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80060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Severity routing logic</a:t>
            </a:r>
            <a:br/>
            <a:r>
              <a:t>Graph compilation</a:t>
            </a:r>
            <a:br/>
            <a:r>
              <a:t>Full pipeline (critical path)</a:t>
            </a:r>
            <a:br/>
            <a:r>
              <a:t>Normal path (skip Slack/JIRA)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607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Run:  python -m pytest test_*.py -v --cov=state --cov=tools --cov=watcher --cov=agents --cov=graph --cov-report=term-missing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GitHub + Streamlit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Calibri"/>
              </a:defRPr>
            </a:pPr>
            <a:r>
              <a:t>GitHub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github.com/wjohnston99/devops-incident-suite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Calibri"/>
              </a:defRPr>
            </a:pPr>
            <a:r>
              <a:t>Streamlit Cloud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3436"/>
                </a:solidFill>
                <a:latin typeface="Calibri"/>
              </a:defRPr>
            </a:pPr>
            <a:r>
              <a:t>1.  Sign in to share.streamlit.io with GitHub</a:t>
            </a:r>
          </a:p>
          <a:p>
            <a:pPr>
              <a:spcAft>
                <a:spcPts val="600"/>
              </a:spcAft>
              <a:defRPr sz="1500">
                <a:solidFill>
                  <a:srgbClr val="2D3436"/>
                </a:solidFill>
                <a:latin typeface="Calibri"/>
              </a:defRPr>
            </a:pPr>
            <a:r>
              <a:t>2.  Click 'New app' → select devops-incident-suite repo</a:t>
            </a:r>
          </a:p>
          <a:p>
            <a:pPr>
              <a:spcAft>
                <a:spcPts val="600"/>
              </a:spcAft>
              <a:defRPr sz="1500">
                <a:solidFill>
                  <a:srgbClr val="2D3436"/>
                </a:solidFill>
                <a:latin typeface="Calibri"/>
              </a:defRPr>
            </a:pPr>
            <a:r>
              <a:t>3.  Branch: main  |  Main file: app.py</a:t>
            </a:r>
          </a:p>
          <a:p>
            <a:pPr>
              <a:spcAft>
                <a:spcPts val="600"/>
              </a:spcAft>
              <a:defRPr sz="1500">
                <a:solidFill>
                  <a:srgbClr val="2D3436"/>
                </a:solidFill>
                <a:latin typeface="Calibri"/>
              </a:defRPr>
            </a:pPr>
            <a:r>
              <a:t>4.  No secrets needed (users enter own keys)</a:t>
            </a:r>
          </a:p>
          <a:p>
            <a:pPr>
              <a:spcAft>
                <a:spcPts val="600"/>
              </a:spcAft>
              <a:defRPr sz="1500">
                <a:solidFill>
                  <a:srgbClr val="2D3436"/>
                </a:solidFill>
                <a:latin typeface="Calibri"/>
              </a:defRPr>
            </a:pPr>
            <a:r>
              <a:t>5.  Click Deploy — live in ~2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Future: Flask API endpoint — core pipeline has zero Streamlit dependencies, enabling a Flask/FastAPI frontend swap with no agent changes.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Project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Framework-agnostic core + Streamlit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13716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Courier New"/>
              </a:defRPr>
            </a:pPr>
            <a:r>
              <a:t>app.py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Streamlit UI entry 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13716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Courier New"/>
              </a:defRPr>
            </a:pPr>
            <a:r>
              <a:t>state.py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IncidentState TypedDict (shared state)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17520"/>
            <a:ext cx="137160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Courier New"/>
              </a:defRPr>
            </a:pPr>
            <a:r>
              <a:t>agents.py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5 agent node functions + lazy LLM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66159"/>
            <a:ext cx="137160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661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Courier New"/>
              </a:defRPr>
            </a:pPr>
            <a:r>
              <a:t>graph.py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5661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LangGraph StateGraph wiring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137160" cy="3657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14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Courier New"/>
              </a:defRPr>
            </a:pPr>
            <a:r>
              <a:t>tools.py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@tool wrappers (Slack, JIRA) + routing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663440"/>
            <a:ext cx="13716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663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Courier New"/>
              </a:defRPr>
            </a:pPr>
            <a:r>
              <a:t>watcher.py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663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Directory watcher (watchdog)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212079"/>
            <a:ext cx="137160" cy="3657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2120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Courier New"/>
              </a:defRPr>
            </a:pPr>
            <a:r>
              <a:t>log_samples/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2120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4 synthetic log files (IOS, CEF, RFC5424, tabular)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760720"/>
            <a:ext cx="1371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760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Courier New"/>
              </a:defRPr>
            </a:pPr>
            <a:r>
              <a:t>test_*.py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760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81 unit tests (pytest)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Flask API endpoint (POST /api/analyze) with server-side secrets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RAG-based remediation using historical runbook embeddings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Real-time streaming via LangGraph's streaming interface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Cross-file correlation engine for cascading failure detection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Persistent storage (SQLite/PostgreSQL) for trend analysis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PagerDuty integration for critical incident escalation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Custom log format registry (save &amp; share inferred schemas)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C0"/>
                </a:solidFill>
                <a:latin typeface="Calibri"/>
              </a:defRPr>
            </a:pPr>
            <a:r>
              <a:t>Multi-Agent DevOps Incident Analysis Suite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657600"/>
            <a:ext cx="27432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Wayne Johnston  |  AI Engineering Accelerator  |  Cohort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366F1"/>
                </a:solidFill>
                <a:latin typeface="Calibri"/>
              </a:defRPr>
            </a:pPr>
            <a:r>
              <a:t>github.com/wjohnston99/devops-incident-suite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